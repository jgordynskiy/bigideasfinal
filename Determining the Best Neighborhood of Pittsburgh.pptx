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embeddedFontLst>
    <p:embeddedFont>
      <p:font typeface="Nunito"/>
      <p:regular r:id="rId17"/>
      <p:bold r:id="rId18"/>
      <p:italic r:id="rId19"/>
      <p:boldItalic r:id="rId20"/>
    </p:embeddedFont>
    <p:embeddedFont>
      <p:font typeface="Maven Pro"/>
      <p:regular r:id="rId21"/>
      <p:bold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AC3AEA4-DA26-46D2-ACCB-005DFD711CBE}">
  <a:tblStyle styleId="{DAC3AEA4-DA26-46D2-ACCB-005DFD711CB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unito-boldItalic.fntdata"/><Relationship Id="rId11" Type="http://schemas.openxmlformats.org/officeDocument/2006/relationships/slide" Target="slides/slide5.xml"/><Relationship Id="rId22" Type="http://schemas.openxmlformats.org/officeDocument/2006/relationships/font" Target="fonts/MavenPro-bold.fntdata"/><Relationship Id="rId10" Type="http://schemas.openxmlformats.org/officeDocument/2006/relationships/slide" Target="slides/slide4.xml"/><Relationship Id="rId21" Type="http://schemas.openxmlformats.org/officeDocument/2006/relationships/font" Target="fonts/MavenPro-regular.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Nunito-regular.fntdata"/><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Nunito-italic.fntdata"/><Relationship Id="rId6" Type="http://schemas.openxmlformats.org/officeDocument/2006/relationships/notesMaster" Target="notesMasters/notesMaster1.xml"/><Relationship Id="rId18" Type="http://schemas.openxmlformats.org/officeDocument/2006/relationships/font" Target="fonts/Nunito-bold.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a2c9bbd7b0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a2c9bbd7b0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a66dfada8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a66dfada8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a2c9bbd7b0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a2c9bbd7b0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a2c9bbd7b0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a2c9bbd7b0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a4752b107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a4752b107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a4752b1076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a4752b1076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a2c9bbd7b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a2c9bbd7b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a2c9bbd7b0_0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a2c9bbd7b0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a46461bb4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a46461bb4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824000" y="1613825"/>
            <a:ext cx="44304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Determining the Best Neighborhood of Pittsburgh</a:t>
            </a:r>
            <a:endParaRPr/>
          </a:p>
        </p:txBody>
      </p:sp>
      <p:sp>
        <p:nvSpPr>
          <p:cNvPr id="278" name="Google Shape;278;p13"/>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Group 40: Jackie Hagner, John Gordynskiy, and Sidney Babiiha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4"/>
          <p:cNvSpPr txBox="1"/>
          <p:nvPr>
            <p:ph type="title"/>
          </p:nvPr>
        </p:nvSpPr>
        <p:spPr>
          <a:xfrm>
            <a:off x="1282725" y="229450"/>
            <a:ext cx="6473100" cy="1685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sz="3300"/>
              <a:t>Metrics</a:t>
            </a:r>
            <a:endParaRPr sz="3300"/>
          </a:p>
          <a:p>
            <a:pPr indent="0" lvl="0" marL="0" rtl="0" algn="ctr">
              <a:spcBef>
                <a:spcPts val="0"/>
              </a:spcBef>
              <a:spcAft>
                <a:spcPts val="0"/>
              </a:spcAft>
              <a:buNone/>
            </a:pPr>
            <a:r>
              <a:rPr lang="en" sz="1700">
                <a:solidFill>
                  <a:srgbClr val="666666"/>
                </a:solidFill>
              </a:rPr>
              <a:t>The best civilian development</a:t>
            </a:r>
            <a:endParaRPr sz="1700">
              <a:solidFill>
                <a:srgbClr val="666666"/>
              </a:solidFill>
            </a:endParaRPr>
          </a:p>
          <a:p>
            <a:pPr indent="0" lvl="0" marL="0" rtl="0" algn="ctr">
              <a:spcBef>
                <a:spcPts val="0"/>
              </a:spcBef>
              <a:spcAft>
                <a:spcPts val="0"/>
              </a:spcAft>
              <a:buNone/>
            </a:pPr>
            <a:r>
              <a:rPr b="0" lang="en" sz="1550">
                <a:solidFill>
                  <a:srgbClr val="000000"/>
                </a:solidFill>
                <a:latin typeface="Nunito"/>
                <a:ea typeface="Nunito"/>
                <a:cs typeface="Nunito"/>
                <a:sym typeface="Nunito"/>
              </a:rPr>
              <a:t>Civilian Development is a measure of how well a neighborhood supports the daily lives, wellbeing, and experiences of the people who live there. Instead of focusing on things like income or crime, this metric looks at community-facing resources that directly improve quality of life.</a:t>
            </a:r>
            <a:endParaRPr sz="1550">
              <a:solidFill>
                <a:srgbClr val="666666"/>
              </a:solidFill>
              <a:latin typeface="Nunito"/>
              <a:ea typeface="Nunito"/>
              <a:cs typeface="Nunito"/>
              <a:sym typeface="Nunito"/>
            </a:endParaRPr>
          </a:p>
          <a:p>
            <a:pPr indent="0" lvl="0" marL="0" rtl="0" algn="ctr">
              <a:spcBef>
                <a:spcPts val="0"/>
              </a:spcBef>
              <a:spcAft>
                <a:spcPts val="0"/>
              </a:spcAft>
              <a:buNone/>
            </a:pPr>
            <a:r>
              <a:t/>
            </a:r>
            <a:endParaRPr sz="1550">
              <a:solidFill>
                <a:srgbClr val="666666"/>
              </a:solidFill>
              <a:latin typeface="Nunito"/>
              <a:ea typeface="Nunito"/>
              <a:cs typeface="Nunito"/>
              <a:sym typeface="Nunito"/>
            </a:endParaRPr>
          </a:p>
        </p:txBody>
      </p:sp>
      <p:sp>
        <p:nvSpPr>
          <p:cNvPr id="284" name="Google Shape;284;p14"/>
          <p:cNvSpPr txBox="1"/>
          <p:nvPr>
            <p:ph idx="1" type="body"/>
          </p:nvPr>
        </p:nvSpPr>
        <p:spPr>
          <a:xfrm>
            <a:off x="892350" y="2032225"/>
            <a:ext cx="2453100" cy="2541600"/>
          </a:xfrm>
          <a:prstGeom prst="rect">
            <a:avLst/>
          </a:prstGeom>
          <a:ln cap="flat" cmpd="sng" w="38100">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0" lvl="0" marL="0" rtl="0" algn="ctr">
              <a:spcBef>
                <a:spcPts val="0"/>
              </a:spcBef>
              <a:spcAft>
                <a:spcPts val="0"/>
              </a:spcAft>
              <a:buNone/>
            </a:pPr>
            <a:r>
              <a:rPr lang="en" sz="1800"/>
              <a:t>Number</a:t>
            </a:r>
            <a:r>
              <a:rPr lang="en" sz="1800"/>
              <a:t> of Parks</a:t>
            </a:r>
            <a:endParaRPr sz="1800"/>
          </a:p>
          <a:p>
            <a:pPr indent="0" lvl="0" marL="0" rtl="0" algn="ctr">
              <a:spcBef>
                <a:spcPts val="1200"/>
              </a:spcBef>
              <a:spcAft>
                <a:spcPts val="1200"/>
              </a:spcAft>
              <a:buNone/>
            </a:pPr>
            <a:r>
              <a:rPr lang="en" sz="1100"/>
              <a:t>Using a dataset detailing all the parks of Pittsburgh, we compiled the amount of parks each neighborhood has.</a:t>
            </a:r>
            <a:endParaRPr sz="1100"/>
          </a:p>
        </p:txBody>
      </p:sp>
      <p:sp>
        <p:nvSpPr>
          <p:cNvPr id="285" name="Google Shape;285;p14"/>
          <p:cNvSpPr txBox="1"/>
          <p:nvPr>
            <p:ph idx="1" type="body"/>
          </p:nvPr>
        </p:nvSpPr>
        <p:spPr>
          <a:xfrm>
            <a:off x="3345450" y="2032225"/>
            <a:ext cx="2453100" cy="2541600"/>
          </a:xfrm>
          <a:prstGeom prst="rect">
            <a:avLst/>
          </a:prstGeom>
          <a:ln cap="flat" cmpd="sng" w="38100">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0" lvl="0" marL="0" rtl="0" algn="ctr">
              <a:spcBef>
                <a:spcPts val="0"/>
              </a:spcBef>
              <a:spcAft>
                <a:spcPts val="0"/>
              </a:spcAft>
              <a:buNone/>
            </a:pPr>
            <a:r>
              <a:rPr lang="en" sz="1800"/>
              <a:t>Number</a:t>
            </a:r>
            <a:r>
              <a:rPr lang="en" sz="1800"/>
              <a:t> of Playgrounds</a:t>
            </a:r>
            <a:endParaRPr sz="1800"/>
          </a:p>
          <a:p>
            <a:pPr indent="0" lvl="0" marL="0" rtl="0" algn="ctr">
              <a:spcBef>
                <a:spcPts val="1200"/>
              </a:spcBef>
              <a:spcAft>
                <a:spcPts val="1200"/>
              </a:spcAft>
              <a:buNone/>
            </a:pPr>
            <a:r>
              <a:rPr lang="en" sz="1100"/>
              <a:t>Analyzing data showing all the playgrounds within each neighborhood in Pittsburgh, with the highest number of playgrounds indicating the best neighborhood.</a:t>
            </a:r>
            <a:endParaRPr sz="1100"/>
          </a:p>
        </p:txBody>
      </p:sp>
      <p:sp>
        <p:nvSpPr>
          <p:cNvPr id="286" name="Google Shape;286;p14"/>
          <p:cNvSpPr txBox="1"/>
          <p:nvPr>
            <p:ph idx="1" type="body"/>
          </p:nvPr>
        </p:nvSpPr>
        <p:spPr>
          <a:xfrm>
            <a:off x="5798550" y="2032225"/>
            <a:ext cx="2453100" cy="2541600"/>
          </a:xfrm>
          <a:prstGeom prst="rect">
            <a:avLst/>
          </a:prstGeom>
          <a:ln cap="flat" cmpd="sng" w="38100">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0" lvl="0" marL="0" rtl="0" algn="ctr">
              <a:spcBef>
                <a:spcPts val="0"/>
              </a:spcBef>
              <a:spcAft>
                <a:spcPts val="0"/>
              </a:spcAft>
              <a:buNone/>
            </a:pPr>
            <a:r>
              <a:rPr lang="en" sz="1800"/>
              <a:t>Amount of Unused City Held Property</a:t>
            </a:r>
            <a:endParaRPr sz="1800"/>
          </a:p>
          <a:p>
            <a:pPr indent="0" lvl="0" marL="0" rtl="0" algn="ctr">
              <a:spcBef>
                <a:spcPts val="1200"/>
              </a:spcBef>
              <a:spcAft>
                <a:spcPts val="1200"/>
              </a:spcAft>
              <a:buNone/>
            </a:pPr>
            <a:r>
              <a:rPr lang="en" sz="1100"/>
              <a:t>A</a:t>
            </a:r>
            <a:r>
              <a:rPr lang="en" sz="1100"/>
              <a:t>nalyzing data showing all property owned by the city and pulling out the sections that are either unused or unmaintained.</a:t>
            </a:r>
            <a:endParaRPr sz="1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15"/>
          <p:cNvSpPr txBox="1"/>
          <p:nvPr>
            <p:ph type="title"/>
          </p:nvPr>
        </p:nvSpPr>
        <p:spPr>
          <a:xfrm>
            <a:off x="1303800" y="598575"/>
            <a:ext cx="3814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Number of parks</a:t>
            </a:r>
            <a:endParaRPr/>
          </a:p>
        </p:txBody>
      </p:sp>
      <p:sp>
        <p:nvSpPr>
          <p:cNvPr id="292" name="Google Shape;292;p15"/>
          <p:cNvSpPr txBox="1"/>
          <p:nvPr>
            <p:ph idx="1" type="body"/>
          </p:nvPr>
        </p:nvSpPr>
        <p:spPr>
          <a:xfrm>
            <a:off x="836600" y="1301075"/>
            <a:ext cx="4129200" cy="32667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en"/>
              <a:t>Public parks are important for a city’s well being; if a neighborhood can afford clean, plentiful, and maintained public parks, that’s an excellent indicator of a community that has trust in itself. </a:t>
            </a:r>
            <a:endParaRPr/>
          </a:p>
          <a:p>
            <a:pPr indent="0" lvl="0" marL="0" rtl="0" algn="l">
              <a:lnSpc>
                <a:spcPct val="150000"/>
              </a:lnSpc>
              <a:spcBef>
                <a:spcPts val="1200"/>
              </a:spcBef>
              <a:spcAft>
                <a:spcPts val="0"/>
              </a:spcAft>
              <a:buNone/>
            </a:pPr>
            <a:r>
              <a:rPr lang="en"/>
              <a:t> </a:t>
            </a:r>
            <a:endParaRPr/>
          </a:p>
          <a:p>
            <a:pPr indent="0" lvl="0" marL="0" rtl="0" algn="l">
              <a:lnSpc>
                <a:spcPct val="150000"/>
              </a:lnSpc>
              <a:spcBef>
                <a:spcPts val="1200"/>
              </a:spcBef>
              <a:spcAft>
                <a:spcPts val="1200"/>
              </a:spcAft>
              <a:buNone/>
            </a:pPr>
            <a:r>
              <a:rPr lang="en"/>
              <a:t>The initial dataset included several statistics that weren’t quite parks, such as traffic islands and building grounds, leading to a dataset that wasn’t quite in line with what we were looking for.</a:t>
            </a:r>
            <a:endParaRPr/>
          </a:p>
        </p:txBody>
      </p:sp>
      <p:pic>
        <p:nvPicPr>
          <p:cNvPr id="293" name="Google Shape;293;p15"/>
          <p:cNvPicPr preferRelativeResize="0"/>
          <p:nvPr/>
        </p:nvPicPr>
        <p:blipFill>
          <a:blip r:embed="rId3">
            <a:alphaModFix/>
          </a:blip>
          <a:stretch>
            <a:fillRect/>
          </a:stretch>
        </p:blipFill>
        <p:spPr>
          <a:xfrm>
            <a:off x="5026621" y="1410475"/>
            <a:ext cx="4025185" cy="2389669"/>
          </a:xfrm>
          <a:prstGeom prst="rect">
            <a:avLst/>
          </a:prstGeom>
          <a:noFill/>
          <a:ln cap="flat" cmpd="sng" w="43550">
            <a:solidFill>
              <a:srgbClr val="990000"/>
            </a:solidFill>
            <a:prstDash val="solid"/>
            <a:round/>
            <a:headEnd len="sm" w="sm" type="none"/>
            <a:tailEnd len="sm" w="sm" type="none"/>
          </a:ln>
        </p:spPr>
      </p:pic>
      <p:sp>
        <p:nvSpPr>
          <p:cNvPr id="294" name="Google Shape;294;p15"/>
          <p:cNvSpPr txBox="1"/>
          <p:nvPr/>
        </p:nvSpPr>
        <p:spPr>
          <a:xfrm>
            <a:off x="5006647" y="3800155"/>
            <a:ext cx="4070400" cy="359100"/>
          </a:xfrm>
          <a:prstGeom prst="rect">
            <a:avLst/>
          </a:prstGeom>
          <a:noFill/>
          <a:ln cap="flat" cmpd="sng" w="43550">
            <a:solidFill>
              <a:srgbClr val="85200C"/>
            </a:solidFill>
            <a:prstDash val="solid"/>
            <a:round/>
            <a:headEnd len="sm" w="sm" type="none"/>
            <a:tailEnd len="sm" w="sm" type="none"/>
          </a:ln>
        </p:spPr>
        <p:txBody>
          <a:bodyPr anchorCtr="0" anchor="t" bIns="104500" lIns="104500" spcFirstLastPara="1" rIns="104500" wrap="square" tIns="104500">
            <a:noAutofit/>
          </a:bodyPr>
          <a:lstStyle/>
          <a:p>
            <a:pPr indent="0" lvl="0" marL="0" rtl="0" algn="ctr">
              <a:spcBef>
                <a:spcPts val="0"/>
              </a:spcBef>
              <a:spcAft>
                <a:spcPts val="0"/>
              </a:spcAft>
              <a:buNone/>
            </a:pPr>
            <a:r>
              <a:rPr lang="en" sz="1485">
                <a:solidFill>
                  <a:srgbClr val="666666"/>
                </a:solidFill>
                <a:latin typeface="Nunito"/>
                <a:ea typeface="Nunito"/>
                <a:cs typeface="Nunito"/>
                <a:sym typeface="Nunito"/>
              </a:rPr>
              <a:t>Initial bar graph with all “parks”</a:t>
            </a:r>
            <a:endParaRPr sz="1485">
              <a:solidFill>
                <a:srgbClr val="666666"/>
              </a:solidFill>
              <a:latin typeface="Nunito"/>
              <a:ea typeface="Nunito"/>
              <a:cs typeface="Nunito"/>
              <a:sym typeface="Nuni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16"/>
          <p:cNvSpPr txBox="1"/>
          <p:nvPr>
            <p:ph type="title"/>
          </p:nvPr>
        </p:nvSpPr>
        <p:spPr>
          <a:xfrm>
            <a:off x="1303800" y="598575"/>
            <a:ext cx="33936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Number of parks</a:t>
            </a:r>
            <a:endParaRPr/>
          </a:p>
        </p:txBody>
      </p:sp>
      <p:sp>
        <p:nvSpPr>
          <p:cNvPr id="300" name="Google Shape;300;p16"/>
          <p:cNvSpPr txBox="1"/>
          <p:nvPr>
            <p:ph idx="1" type="body"/>
          </p:nvPr>
        </p:nvSpPr>
        <p:spPr>
          <a:xfrm>
            <a:off x="836600" y="1597875"/>
            <a:ext cx="4151400" cy="18753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en"/>
              <a:t>After filtering the dataset to only include parks under the “park” type, we got more </a:t>
            </a:r>
            <a:r>
              <a:rPr lang="en"/>
              <a:t>usable</a:t>
            </a:r>
            <a:r>
              <a:rPr lang="en"/>
              <a:t> data.</a:t>
            </a:r>
            <a:endParaRPr/>
          </a:p>
          <a:p>
            <a:pPr indent="0" lvl="0" marL="0" rtl="0" algn="l">
              <a:lnSpc>
                <a:spcPct val="100000"/>
              </a:lnSpc>
              <a:spcBef>
                <a:spcPts val="1200"/>
              </a:spcBef>
              <a:spcAft>
                <a:spcPts val="0"/>
              </a:spcAft>
              <a:buNone/>
            </a:pPr>
            <a:r>
              <a:rPr lang="en" sz="1100"/>
              <a:t>Beechview (6)</a:t>
            </a:r>
            <a:endParaRPr sz="1100"/>
          </a:p>
          <a:p>
            <a:pPr indent="0" lvl="0" marL="0" rtl="0" algn="l">
              <a:lnSpc>
                <a:spcPct val="100000"/>
              </a:lnSpc>
              <a:spcBef>
                <a:spcPts val="0"/>
              </a:spcBef>
              <a:spcAft>
                <a:spcPts val="0"/>
              </a:spcAft>
              <a:buNone/>
            </a:pPr>
            <a:r>
              <a:rPr lang="en" sz="1100"/>
              <a:t>Southside Slopes (6)</a:t>
            </a:r>
            <a:endParaRPr sz="1100"/>
          </a:p>
          <a:p>
            <a:pPr indent="0" lvl="0" marL="0" rtl="0" algn="l">
              <a:lnSpc>
                <a:spcPct val="100000"/>
              </a:lnSpc>
              <a:spcBef>
                <a:spcPts val="0"/>
              </a:spcBef>
              <a:spcAft>
                <a:spcPts val="0"/>
              </a:spcAft>
              <a:buNone/>
            </a:pPr>
            <a:r>
              <a:rPr lang="en" sz="1100"/>
              <a:t>Hazelwood (5)</a:t>
            </a:r>
            <a:endParaRPr sz="1100"/>
          </a:p>
          <a:p>
            <a:pPr indent="0" lvl="0" marL="0" rtl="0" algn="l">
              <a:lnSpc>
                <a:spcPct val="100000"/>
              </a:lnSpc>
              <a:spcBef>
                <a:spcPts val="0"/>
              </a:spcBef>
              <a:spcAft>
                <a:spcPts val="0"/>
              </a:spcAft>
              <a:buNone/>
            </a:pPr>
            <a:r>
              <a:rPr lang="en" sz="1100"/>
              <a:t>Mount Washington (5)</a:t>
            </a:r>
            <a:endParaRPr sz="1100"/>
          </a:p>
          <a:p>
            <a:pPr indent="0" lvl="0" marL="0" rtl="0" algn="l">
              <a:lnSpc>
                <a:spcPct val="100000"/>
              </a:lnSpc>
              <a:spcBef>
                <a:spcPts val="0"/>
              </a:spcBef>
              <a:spcAft>
                <a:spcPts val="0"/>
              </a:spcAft>
              <a:buNone/>
            </a:pPr>
            <a:r>
              <a:rPr lang="en" sz="1100"/>
              <a:t>Troy Hill (5)</a:t>
            </a:r>
            <a:endParaRPr/>
          </a:p>
        </p:txBody>
      </p:sp>
      <p:pic>
        <p:nvPicPr>
          <p:cNvPr id="301" name="Google Shape;301;p16"/>
          <p:cNvPicPr preferRelativeResize="0"/>
          <p:nvPr/>
        </p:nvPicPr>
        <p:blipFill>
          <a:blip r:embed="rId3">
            <a:alphaModFix/>
          </a:blip>
          <a:stretch>
            <a:fillRect/>
          </a:stretch>
        </p:blipFill>
        <p:spPr>
          <a:xfrm>
            <a:off x="5068495" y="1358613"/>
            <a:ext cx="3943891" cy="2336642"/>
          </a:xfrm>
          <a:prstGeom prst="rect">
            <a:avLst/>
          </a:prstGeom>
          <a:noFill/>
          <a:ln cap="flat" cmpd="sng" w="39400">
            <a:solidFill>
              <a:srgbClr val="274E13"/>
            </a:solidFill>
            <a:prstDash val="solid"/>
            <a:round/>
            <a:headEnd len="sm" w="sm" type="none"/>
            <a:tailEnd len="sm" w="sm" type="none"/>
          </a:ln>
        </p:spPr>
      </p:pic>
      <p:sp>
        <p:nvSpPr>
          <p:cNvPr id="302" name="Google Shape;302;p16"/>
          <p:cNvSpPr txBox="1"/>
          <p:nvPr/>
        </p:nvSpPr>
        <p:spPr>
          <a:xfrm>
            <a:off x="5046432" y="3692946"/>
            <a:ext cx="3991200" cy="324900"/>
          </a:xfrm>
          <a:prstGeom prst="rect">
            <a:avLst/>
          </a:prstGeom>
          <a:noFill/>
          <a:ln cap="flat" cmpd="sng" w="39400">
            <a:solidFill>
              <a:srgbClr val="274E13"/>
            </a:solidFill>
            <a:prstDash val="solid"/>
            <a:round/>
            <a:headEnd len="sm" w="sm" type="none"/>
            <a:tailEnd len="sm" w="sm" type="none"/>
          </a:ln>
        </p:spPr>
        <p:txBody>
          <a:bodyPr anchorCtr="0" anchor="t" bIns="94525" lIns="94525" spcFirstLastPara="1" rIns="94525" wrap="square" tIns="94525">
            <a:noAutofit/>
          </a:bodyPr>
          <a:lstStyle/>
          <a:p>
            <a:pPr indent="0" lvl="0" marL="0" rtl="0" algn="ctr">
              <a:spcBef>
                <a:spcPts val="0"/>
              </a:spcBef>
              <a:spcAft>
                <a:spcPts val="0"/>
              </a:spcAft>
              <a:buNone/>
            </a:pPr>
            <a:r>
              <a:rPr lang="en" sz="1344">
                <a:solidFill>
                  <a:srgbClr val="999999"/>
                </a:solidFill>
                <a:latin typeface="Nunito"/>
                <a:ea typeface="Nunito"/>
                <a:cs typeface="Nunito"/>
                <a:sym typeface="Nunito"/>
              </a:rPr>
              <a:t>Final, accurate bar graph</a:t>
            </a:r>
            <a:endParaRPr sz="1344">
              <a:solidFill>
                <a:srgbClr val="999999"/>
              </a:solidFill>
              <a:latin typeface="Nunito"/>
              <a:ea typeface="Nunito"/>
              <a:cs typeface="Nunito"/>
              <a:sym typeface="Nuni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Number of playgrounds</a:t>
            </a:r>
            <a:endParaRPr/>
          </a:p>
        </p:txBody>
      </p:sp>
      <p:sp>
        <p:nvSpPr>
          <p:cNvPr id="308" name="Google Shape;308;p17"/>
          <p:cNvSpPr txBox="1"/>
          <p:nvPr>
            <p:ph idx="1" type="body"/>
          </p:nvPr>
        </p:nvSpPr>
        <p:spPr>
          <a:xfrm>
            <a:off x="1303800" y="1239175"/>
            <a:ext cx="7430100" cy="1783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000000"/>
                </a:solidFill>
              </a:rPr>
              <a:t>Playgrounds </a:t>
            </a:r>
            <a:r>
              <a:rPr lang="en">
                <a:solidFill>
                  <a:srgbClr val="000000"/>
                </a:solidFill>
              </a:rPr>
              <a:t>encourage exercise and outdoor time within neighborhoods and the number of playgrounds in a neighborhood can indicate that the city is putting resources into family services, public safety, and recreational spaces in that neighborhood. The dataset therefore allows us to get a realistic picture of how well a neighborhood supports its residents, particularly families, and how strong its civilian development is.</a:t>
            </a:r>
            <a:endParaRPr>
              <a:solidFill>
                <a:srgbClr val="000000"/>
              </a:solidFill>
            </a:endParaRPr>
          </a:p>
          <a:p>
            <a:pPr indent="0" lvl="0" marL="0" rtl="0" algn="l">
              <a:spcBef>
                <a:spcPts val="1200"/>
              </a:spcBef>
              <a:spcAft>
                <a:spcPts val="1200"/>
              </a:spcAft>
              <a:buNone/>
            </a:pPr>
            <a:r>
              <a:t/>
            </a:r>
            <a:endParaRPr/>
          </a:p>
        </p:txBody>
      </p:sp>
      <p:pic>
        <p:nvPicPr>
          <p:cNvPr id="309" name="Google Shape;309;p17"/>
          <p:cNvPicPr preferRelativeResize="0"/>
          <p:nvPr/>
        </p:nvPicPr>
        <p:blipFill rotWithShape="1">
          <a:blip r:embed="rId3">
            <a:alphaModFix/>
          </a:blip>
          <a:srcRect b="0" l="0" r="30386" t="13171"/>
          <a:stretch/>
        </p:blipFill>
        <p:spPr>
          <a:xfrm>
            <a:off x="4301700" y="2281025"/>
            <a:ext cx="4432199" cy="2694586"/>
          </a:xfrm>
          <a:prstGeom prst="rect">
            <a:avLst/>
          </a:prstGeom>
          <a:noFill/>
          <a:ln>
            <a:noFill/>
          </a:ln>
        </p:spPr>
      </p:pic>
      <p:sp>
        <p:nvSpPr>
          <p:cNvPr id="310" name="Google Shape;310;p17"/>
          <p:cNvSpPr txBox="1"/>
          <p:nvPr/>
        </p:nvSpPr>
        <p:spPr>
          <a:xfrm>
            <a:off x="1303800" y="2474150"/>
            <a:ext cx="2997900" cy="221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Nunito"/>
                <a:ea typeface="Nunito"/>
                <a:cs typeface="Nunito"/>
                <a:sym typeface="Nunito"/>
              </a:rPr>
              <a:t>Initially, I assumed that the names of the parks and the neighborhoods they are located in were all I needed. However, the dataset offered me the opportunity to evaluate the safety of these playgrounds as well. </a:t>
            </a:r>
            <a:endParaRPr sz="1200">
              <a:latin typeface="Nunito"/>
              <a:ea typeface="Nunito"/>
              <a:cs typeface="Nunito"/>
              <a:sym typeface="Nunito"/>
            </a:endParaRPr>
          </a:p>
          <a:p>
            <a:pPr indent="0" lvl="0" marL="0" rtl="0" algn="l">
              <a:spcBef>
                <a:spcPts val="0"/>
              </a:spcBef>
              <a:spcAft>
                <a:spcPts val="0"/>
              </a:spcAft>
              <a:buNone/>
            </a:pPr>
            <a:r>
              <a:t/>
            </a:r>
            <a:endParaRPr sz="1200">
              <a:latin typeface="Nunito"/>
              <a:ea typeface="Nunito"/>
              <a:cs typeface="Nunito"/>
              <a:sym typeface="Nunito"/>
            </a:endParaRPr>
          </a:p>
          <a:p>
            <a:pPr indent="0" lvl="0" marL="0" rtl="0" algn="l">
              <a:spcBef>
                <a:spcPts val="0"/>
              </a:spcBef>
              <a:spcAft>
                <a:spcPts val="0"/>
              </a:spcAft>
              <a:buNone/>
            </a:pPr>
            <a:r>
              <a:rPr lang="en" sz="1200">
                <a:latin typeface="Nunito"/>
                <a:ea typeface="Nunito"/>
                <a:cs typeface="Nunito"/>
                <a:sym typeface="Nunito"/>
              </a:rPr>
              <a:t>From the </a:t>
            </a:r>
            <a:r>
              <a:rPr lang="en" sz="1200">
                <a:latin typeface="Nunito"/>
                <a:ea typeface="Nunito"/>
                <a:cs typeface="Nunito"/>
                <a:sym typeface="Nunito"/>
              </a:rPr>
              <a:t>dataset, I</a:t>
            </a:r>
            <a:r>
              <a:rPr lang="en" sz="1200">
                <a:latin typeface="Nunito"/>
                <a:ea typeface="Nunito"/>
                <a:cs typeface="Nunito"/>
                <a:sym typeface="Nunito"/>
              </a:rPr>
              <a:t> filtered out the names of the playgrounds, the neighborhoods they’re in and the type of safety surface they have.</a:t>
            </a:r>
            <a:endParaRPr sz="1200">
              <a:latin typeface="Nunito"/>
              <a:ea typeface="Nunito"/>
              <a:cs typeface="Nunito"/>
              <a:sym typeface="Nuni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18"/>
          <p:cNvSpPr txBox="1"/>
          <p:nvPr>
            <p:ph type="title"/>
          </p:nvPr>
        </p:nvSpPr>
        <p:spPr>
          <a:xfrm>
            <a:off x="1303800" y="598575"/>
            <a:ext cx="7030500" cy="605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Number of playgrounds</a:t>
            </a:r>
            <a:endParaRPr/>
          </a:p>
          <a:p>
            <a:pPr indent="0" lvl="0" marL="0" rtl="0" algn="l">
              <a:spcBef>
                <a:spcPts val="0"/>
              </a:spcBef>
              <a:spcAft>
                <a:spcPts val="0"/>
              </a:spcAft>
              <a:buNone/>
            </a:pPr>
            <a:r>
              <a:t/>
            </a:r>
            <a:endParaRPr/>
          </a:p>
        </p:txBody>
      </p:sp>
      <p:sp>
        <p:nvSpPr>
          <p:cNvPr id="316" name="Google Shape;316;p18"/>
          <p:cNvSpPr txBox="1"/>
          <p:nvPr>
            <p:ph idx="1" type="body"/>
          </p:nvPr>
        </p:nvSpPr>
        <p:spPr>
          <a:xfrm>
            <a:off x="1303800" y="1203675"/>
            <a:ext cx="7030500" cy="7521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n"/>
              <a:t>I went on to remove all the playgrounds that didn’t have safety surfaces, making the assumption that the best neighborhood with good civilian development would prioritize the safety of playground users by having safety surfaces.</a:t>
            </a:r>
            <a:endParaRPr/>
          </a:p>
        </p:txBody>
      </p:sp>
      <p:pic>
        <p:nvPicPr>
          <p:cNvPr id="317" name="Google Shape;317;p18"/>
          <p:cNvPicPr preferRelativeResize="0"/>
          <p:nvPr/>
        </p:nvPicPr>
        <p:blipFill>
          <a:blip r:embed="rId3">
            <a:alphaModFix/>
          </a:blip>
          <a:stretch>
            <a:fillRect/>
          </a:stretch>
        </p:blipFill>
        <p:spPr>
          <a:xfrm>
            <a:off x="1303800" y="2077875"/>
            <a:ext cx="2788224" cy="2713925"/>
          </a:xfrm>
          <a:prstGeom prst="rect">
            <a:avLst/>
          </a:prstGeom>
          <a:noFill/>
          <a:ln>
            <a:noFill/>
          </a:ln>
        </p:spPr>
      </p:pic>
      <p:sp>
        <p:nvSpPr>
          <p:cNvPr id="318" name="Google Shape;318;p18"/>
          <p:cNvSpPr txBox="1"/>
          <p:nvPr/>
        </p:nvSpPr>
        <p:spPr>
          <a:xfrm>
            <a:off x="4281500" y="2108225"/>
            <a:ext cx="4052700" cy="75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Nunito"/>
                <a:ea typeface="Nunito"/>
                <a:cs typeface="Nunito"/>
                <a:sym typeface="Nunito"/>
              </a:rPr>
              <a:t>I then counted how many times each neighborhood with playgrounds with safe surfaces appeared within the dataset and plotted this in a bar graph.</a:t>
            </a:r>
            <a:endParaRPr sz="1300">
              <a:solidFill>
                <a:schemeClr val="dk2"/>
              </a:solidFill>
              <a:latin typeface="Nunito"/>
              <a:ea typeface="Nunito"/>
              <a:cs typeface="Nunito"/>
              <a:sym typeface="Nunito"/>
            </a:endParaRPr>
          </a:p>
        </p:txBody>
      </p:sp>
      <p:pic>
        <p:nvPicPr>
          <p:cNvPr id="319" name="Google Shape;319;p18"/>
          <p:cNvPicPr preferRelativeResize="0"/>
          <p:nvPr/>
        </p:nvPicPr>
        <p:blipFill>
          <a:blip r:embed="rId4">
            <a:alphaModFix/>
          </a:blip>
          <a:stretch>
            <a:fillRect/>
          </a:stretch>
        </p:blipFill>
        <p:spPr>
          <a:xfrm>
            <a:off x="4244425" y="2860325"/>
            <a:ext cx="4084675" cy="21307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19"/>
          <p:cNvSpPr txBox="1"/>
          <p:nvPr>
            <p:ph type="title"/>
          </p:nvPr>
        </p:nvSpPr>
        <p:spPr>
          <a:xfrm>
            <a:off x="1303800" y="598575"/>
            <a:ext cx="7030500" cy="513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Number of playgrounds</a:t>
            </a:r>
            <a:endParaRPr/>
          </a:p>
          <a:p>
            <a:pPr indent="0" lvl="0" marL="0" rtl="0" algn="l">
              <a:spcBef>
                <a:spcPts val="0"/>
              </a:spcBef>
              <a:spcAft>
                <a:spcPts val="0"/>
              </a:spcAft>
              <a:buNone/>
            </a:pPr>
            <a:r>
              <a:t/>
            </a:r>
            <a:endParaRPr/>
          </a:p>
        </p:txBody>
      </p:sp>
      <p:sp>
        <p:nvSpPr>
          <p:cNvPr id="325" name="Google Shape;325;p19"/>
          <p:cNvSpPr txBox="1"/>
          <p:nvPr>
            <p:ph idx="1" type="body"/>
          </p:nvPr>
        </p:nvSpPr>
        <p:spPr>
          <a:xfrm>
            <a:off x="1303800" y="1300950"/>
            <a:ext cx="7030500" cy="2832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Therefore we can see that the top </a:t>
            </a:r>
            <a:r>
              <a:rPr lang="en"/>
              <a:t>five</a:t>
            </a:r>
            <a:r>
              <a:rPr lang="en"/>
              <a:t> neighborhoods with the most playgrounds with safe surfaces are: </a:t>
            </a:r>
            <a:endParaRPr/>
          </a:p>
        </p:txBody>
      </p:sp>
      <p:pic>
        <p:nvPicPr>
          <p:cNvPr id="326" name="Google Shape;326;p19"/>
          <p:cNvPicPr preferRelativeResize="0"/>
          <p:nvPr/>
        </p:nvPicPr>
        <p:blipFill>
          <a:blip r:embed="rId3">
            <a:alphaModFix/>
          </a:blip>
          <a:stretch>
            <a:fillRect/>
          </a:stretch>
        </p:blipFill>
        <p:spPr>
          <a:xfrm>
            <a:off x="1303800" y="1884900"/>
            <a:ext cx="5467350" cy="2247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2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Amount of Unused City Held Property</a:t>
            </a:r>
            <a:endParaRPr/>
          </a:p>
        </p:txBody>
      </p:sp>
      <p:sp>
        <p:nvSpPr>
          <p:cNvPr id="332" name="Google Shape;332;p20"/>
          <p:cNvSpPr txBox="1"/>
          <p:nvPr>
            <p:ph idx="1" type="body"/>
          </p:nvPr>
        </p:nvSpPr>
        <p:spPr>
          <a:xfrm>
            <a:off x="128500" y="1335025"/>
            <a:ext cx="5349300" cy="336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following graph shows us each neighborhood’s unused property. Most of them are up for sale, and those that are not are “Held for Study” by the city. A good neighborhood in our opinion will be around the middle of this data set, having enough property for sale that someone has a wider selection of options, but not too much unused property that the neighborhood feels empty. </a:t>
            </a:r>
            <a:r>
              <a:rPr lang="en"/>
              <a:t>According</a:t>
            </a:r>
            <a:r>
              <a:rPr lang="en"/>
              <a:t> to this, the best five are Polish Hill, Stanton Heights, West End, Bloomfield, and Lower Lawrenceville. T</a:t>
            </a:r>
            <a:r>
              <a:rPr lang="en"/>
              <a:t>he average number of unused properties is approximately 80 properties.</a:t>
            </a:r>
            <a:endParaRPr/>
          </a:p>
          <a:p>
            <a:pPr indent="0" lvl="0" marL="0" rtl="0" algn="l">
              <a:spcBef>
                <a:spcPts val="1200"/>
              </a:spcBef>
              <a:spcAft>
                <a:spcPts val="0"/>
              </a:spcAft>
              <a:buNone/>
            </a:pPr>
            <a:r>
              <a:rPr lang="en"/>
              <a:t>Therefore, the best neighborhood by this metric is West End.</a:t>
            </a:r>
            <a:endParaRPr/>
          </a:p>
          <a:p>
            <a:pPr indent="0" lvl="0" marL="0" rtl="0" algn="l">
              <a:spcBef>
                <a:spcPts val="1200"/>
              </a:spcBef>
              <a:spcAft>
                <a:spcPts val="1200"/>
              </a:spcAft>
              <a:buNone/>
            </a:pPr>
            <a:r>
              <a:t/>
            </a:r>
            <a:endParaRPr/>
          </a:p>
        </p:txBody>
      </p:sp>
      <p:pic>
        <p:nvPicPr>
          <p:cNvPr id="333" name="Google Shape;333;p20" title="Screenshot 2025-11-17 at 3.39.03 PM.png"/>
          <p:cNvPicPr preferRelativeResize="0"/>
          <p:nvPr/>
        </p:nvPicPr>
        <p:blipFill rotWithShape="1">
          <a:blip r:embed="rId3">
            <a:alphaModFix/>
          </a:blip>
          <a:srcRect b="1710" l="0" r="0" t="0"/>
          <a:stretch/>
        </p:blipFill>
        <p:spPr>
          <a:xfrm>
            <a:off x="5710550" y="1096800"/>
            <a:ext cx="2883899" cy="2292151"/>
          </a:xfrm>
          <a:prstGeom prst="rect">
            <a:avLst/>
          </a:prstGeom>
          <a:noFill/>
          <a:ln>
            <a:noFill/>
          </a:ln>
        </p:spPr>
      </p:pic>
      <p:graphicFrame>
        <p:nvGraphicFramePr>
          <p:cNvPr id="334" name="Google Shape;334;p20"/>
          <p:cNvGraphicFramePr/>
          <p:nvPr/>
        </p:nvGraphicFramePr>
        <p:xfrm>
          <a:off x="6219525" y="3388950"/>
          <a:ext cx="3000000" cy="3000000"/>
        </p:xfrm>
        <a:graphic>
          <a:graphicData uri="http://schemas.openxmlformats.org/drawingml/2006/table">
            <a:tbl>
              <a:tblPr>
                <a:noFill/>
                <a:tableStyleId>{DAC3AEA4-DA26-46D2-ACCB-005DFD711CBE}</a:tableStyleId>
              </a:tblPr>
              <a:tblGrid>
                <a:gridCol w="1483100"/>
                <a:gridCol w="382850"/>
              </a:tblGrid>
              <a:tr h="100000">
                <a:tc>
                  <a:txBody>
                    <a:bodyPr/>
                    <a:lstStyle/>
                    <a:p>
                      <a:pPr indent="0" lvl="0" marL="0" rtl="0" algn="l">
                        <a:spcBef>
                          <a:spcPts val="0"/>
                        </a:spcBef>
                        <a:spcAft>
                          <a:spcPts val="0"/>
                        </a:spcAft>
                        <a:buNone/>
                      </a:pPr>
                      <a:r>
                        <a:rPr lang="en" sz="1000"/>
                        <a:t>Polish Hill</a:t>
                      </a:r>
                      <a:endParaRPr sz="1000"/>
                    </a:p>
                  </a:txBody>
                  <a:tcPr marT="91425" marB="91425" marR="91425" marL="91425"/>
                </a:tc>
                <a:tc>
                  <a:txBody>
                    <a:bodyPr/>
                    <a:lstStyle/>
                    <a:p>
                      <a:pPr indent="0" lvl="0" marL="0" rtl="0" algn="l">
                        <a:spcBef>
                          <a:spcPts val="0"/>
                        </a:spcBef>
                        <a:spcAft>
                          <a:spcPts val="0"/>
                        </a:spcAft>
                        <a:buNone/>
                      </a:pPr>
                      <a:r>
                        <a:rPr lang="en" sz="1000"/>
                        <a:t>40</a:t>
                      </a:r>
                      <a:endParaRPr sz="1000"/>
                    </a:p>
                  </a:txBody>
                  <a:tcPr marT="91425" marB="91425" marR="91425" marL="91425"/>
                </a:tc>
              </a:tr>
              <a:tr h="240475">
                <a:tc>
                  <a:txBody>
                    <a:bodyPr/>
                    <a:lstStyle/>
                    <a:p>
                      <a:pPr indent="0" lvl="0" marL="0" rtl="0" algn="l">
                        <a:spcBef>
                          <a:spcPts val="0"/>
                        </a:spcBef>
                        <a:spcAft>
                          <a:spcPts val="0"/>
                        </a:spcAft>
                        <a:buNone/>
                      </a:pPr>
                      <a:r>
                        <a:rPr lang="en" sz="1000"/>
                        <a:t>Stanton Heights</a:t>
                      </a:r>
                      <a:endParaRPr sz="1000"/>
                    </a:p>
                  </a:txBody>
                  <a:tcPr marT="91425" marB="91425" marR="91425" marL="91425"/>
                </a:tc>
                <a:tc>
                  <a:txBody>
                    <a:bodyPr/>
                    <a:lstStyle/>
                    <a:p>
                      <a:pPr indent="0" lvl="0" marL="0" rtl="0" algn="l">
                        <a:spcBef>
                          <a:spcPts val="0"/>
                        </a:spcBef>
                        <a:spcAft>
                          <a:spcPts val="0"/>
                        </a:spcAft>
                        <a:buNone/>
                      </a:pPr>
                      <a:r>
                        <a:rPr lang="en" sz="1000"/>
                        <a:t>33</a:t>
                      </a:r>
                      <a:endParaRPr sz="1000"/>
                    </a:p>
                  </a:txBody>
                  <a:tcPr marT="91425" marB="91425" marR="91425" marL="91425"/>
                </a:tc>
              </a:tr>
              <a:tr h="272625">
                <a:tc>
                  <a:txBody>
                    <a:bodyPr/>
                    <a:lstStyle/>
                    <a:p>
                      <a:pPr indent="0" lvl="0" marL="0" rtl="0" algn="l">
                        <a:spcBef>
                          <a:spcPts val="0"/>
                        </a:spcBef>
                        <a:spcAft>
                          <a:spcPts val="0"/>
                        </a:spcAft>
                        <a:buNone/>
                      </a:pPr>
                      <a:r>
                        <a:rPr lang="en" sz="1000"/>
                        <a:t>West End</a:t>
                      </a:r>
                      <a:endParaRPr sz="1000"/>
                    </a:p>
                  </a:txBody>
                  <a:tcPr marT="91425" marB="91425" marR="91425" marL="91425"/>
                </a:tc>
                <a:tc>
                  <a:txBody>
                    <a:bodyPr/>
                    <a:lstStyle/>
                    <a:p>
                      <a:pPr indent="0" lvl="0" marL="0" rtl="0" algn="l">
                        <a:spcBef>
                          <a:spcPts val="0"/>
                        </a:spcBef>
                        <a:spcAft>
                          <a:spcPts val="0"/>
                        </a:spcAft>
                        <a:buNone/>
                      </a:pPr>
                      <a:r>
                        <a:rPr lang="en" sz="1000"/>
                        <a:t>32</a:t>
                      </a:r>
                      <a:endParaRPr sz="1000"/>
                    </a:p>
                  </a:txBody>
                  <a:tcPr marT="91425" marB="91425" marR="91425" marL="91425"/>
                </a:tc>
              </a:tr>
              <a:tr h="227950">
                <a:tc>
                  <a:txBody>
                    <a:bodyPr/>
                    <a:lstStyle/>
                    <a:p>
                      <a:pPr indent="0" lvl="0" marL="0" rtl="0" algn="l">
                        <a:spcBef>
                          <a:spcPts val="0"/>
                        </a:spcBef>
                        <a:spcAft>
                          <a:spcPts val="0"/>
                        </a:spcAft>
                        <a:buNone/>
                      </a:pPr>
                      <a:r>
                        <a:rPr lang="en" sz="1000"/>
                        <a:t>Bloomfield</a:t>
                      </a:r>
                      <a:endParaRPr sz="1000"/>
                    </a:p>
                  </a:txBody>
                  <a:tcPr marT="91425" marB="91425" marR="91425" marL="91425"/>
                </a:tc>
                <a:tc>
                  <a:txBody>
                    <a:bodyPr/>
                    <a:lstStyle/>
                    <a:p>
                      <a:pPr indent="0" lvl="0" marL="0" rtl="0" algn="l">
                        <a:spcBef>
                          <a:spcPts val="0"/>
                        </a:spcBef>
                        <a:spcAft>
                          <a:spcPts val="0"/>
                        </a:spcAft>
                        <a:buNone/>
                      </a:pPr>
                      <a:r>
                        <a:rPr lang="en" sz="1000"/>
                        <a:t>31</a:t>
                      </a:r>
                      <a:endParaRPr sz="1000"/>
                    </a:p>
                  </a:txBody>
                  <a:tcPr marT="91425" marB="91425" marR="91425" marL="91425"/>
                </a:tc>
              </a:tr>
              <a:tr h="287500">
                <a:tc>
                  <a:txBody>
                    <a:bodyPr/>
                    <a:lstStyle/>
                    <a:p>
                      <a:pPr indent="0" lvl="0" marL="0" rtl="0" algn="l">
                        <a:spcBef>
                          <a:spcPts val="0"/>
                        </a:spcBef>
                        <a:spcAft>
                          <a:spcPts val="0"/>
                        </a:spcAft>
                        <a:buNone/>
                      </a:pPr>
                      <a:r>
                        <a:rPr lang="en" sz="1000"/>
                        <a:t>Lower Lawrenceville</a:t>
                      </a:r>
                      <a:endParaRPr sz="1000"/>
                    </a:p>
                  </a:txBody>
                  <a:tcPr marT="91425" marB="91425" marR="91425" marL="91425"/>
                </a:tc>
                <a:tc>
                  <a:txBody>
                    <a:bodyPr/>
                    <a:lstStyle/>
                    <a:p>
                      <a:pPr indent="0" lvl="0" marL="0" rtl="0" algn="l">
                        <a:spcBef>
                          <a:spcPts val="0"/>
                        </a:spcBef>
                        <a:spcAft>
                          <a:spcPts val="0"/>
                        </a:spcAft>
                        <a:buNone/>
                      </a:pPr>
                      <a:r>
                        <a:rPr lang="en" sz="1000"/>
                        <a:t>30</a:t>
                      </a:r>
                      <a:endParaRPr sz="1000"/>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2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Conclusion</a:t>
            </a:r>
            <a:endParaRPr/>
          </a:p>
        </p:txBody>
      </p:sp>
      <p:sp>
        <p:nvSpPr>
          <p:cNvPr id="340" name="Google Shape;340;p21"/>
          <p:cNvSpPr txBox="1"/>
          <p:nvPr>
            <p:ph idx="1" type="body"/>
          </p:nvPr>
        </p:nvSpPr>
        <p:spPr>
          <a:xfrm>
            <a:off x="915550" y="1990050"/>
            <a:ext cx="3893100" cy="2818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When we look at the top 5 of the first two metrics, the cities that overlap on the top five lists are: Hazelwood, South Side Slopes, and Beechview. However, these three all line up in the back half of the third category, with the statistics to the left:</a:t>
            </a:r>
            <a:endParaRPr/>
          </a:p>
          <a:p>
            <a:pPr indent="0" lvl="0" marL="0" rtl="0" algn="l">
              <a:spcBef>
                <a:spcPts val="1200"/>
              </a:spcBef>
              <a:spcAft>
                <a:spcPts val="1200"/>
              </a:spcAft>
              <a:buNone/>
            </a:pPr>
            <a:r>
              <a:rPr lang="en"/>
              <a:t>Because of the sheer difference in the number of unused properties in Hazelwood, and how much closer it is to the mean of that data set, we can say that Hazelwood is the best neighborhood in Pittsburgh.</a:t>
            </a:r>
            <a:endParaRPr/>
          </a:p>
        </p:txBody>
      </p:sp>
      <p:graphicFrame>
        <p:nvGraphicFramePr>
          <p:cNvPr id="341" name="Google Shape;341;p21"/>
          <p:cNvGraphicFramePr/>
          <p:nvPr/>
        </p:nvGraphicFramePr>
        <p:xfrm>
          <a:off x="4900350" y="1990050"/>
          <a:ext cx="3000000" cy="3000000"/>
        </p:xfrm>
        <a:graphic>
          <a:graphicData uri="http://schemas.openxmlformats.org/drawingml/2006/table">
            <a:tbl>
              <a:tblPr>
                <a:noFill/>
                <a:tableStyleId>{DAC3AEA4-DA26-46D2-ACCB-005DFD711CBE}</a:tableStyleId>
              </a:tblPr>
              <a:tblGrid>
                <a:gridCol w="1397050"/>
                <a:gridCol w="659625"/>
                <a:gridCol w="1180825"/>
                <a:gridCol w="718375"/>
              </a:tblGrid>
              <a:tr h="381000">
                <a:tc>
                  <a:txBody>
                    <a:bodyPr/>
                    <a:lstStyle/>
                    <a:p>
                      <a:pPr indent="0" lvl="0" marL="0" rtl="0" algn="l">
                        <a:spcBef>
                          <a:spcPts val="0"/>
                        </a:spcBef>
                        <a:spcAft>
                          <a:spcPts val="0"/>
                        </a:spcAft>
                        <a:buNone/>
                      </a:pPr>
                      <a:r>
                        <a:rPr lang="en"/>
                        <a:t>Neighborhood</a:t>
                      </a:r>
                      <a:endParaRPr/>
                    </a:p>
                  </a:txBody>
                  <a:tcPr marT="91425" marB="91425" marR="91425" marL="91425"/>
                </a:tc>
                <a:tc>
                  <a:txBody>
                    <a:bodyPr/>
                    <a:lstStyle/>
                    <a:p>
                      <a:pPr indent="0" lvl="0" marL="0" rtl="0" algn="l">
                        <a:spcBef>
                          <a:spcPts val="0"/>
                        </a:spcBef>
                        <a:spcAft>
                          <a:spcPts val="0"/>
                        </a:spcAft>
                        <a:buNone/>
                      </a:pPr>
                      <a:r>
                        <a:rPr lang="en"/>
                        <a:t>Parks</a:t>
                      </a:r>
                      <a:endParaRPr/>
                    </a:p>
                  </a:txBody>
                  <a:tcPr marT="91425" marB="91425" marR="91425" marL="91425"/>
                </a:tc>
                <a:tc>
                  <a:txBody>
                    <a:bodyPr/>
                    <a:lstStyle/>
                    <a:p>
                      <a:pPr indent="0" lvl="0" marL="0" rtl="0" algn="l">
                        <a:spcBef>
                          <a:spcPts val="0"/>
                        </a:spcBef>
                        <a:spcAft>
                          <a:spcPts val="0"/>
                        </a:spcAft>
                        <a:buNone/>
                      </a:pPr>
                      <a:r>
                        <a:rPr lang="en"/>
                        <a:t>Playgrounds</a:t>
                      </a:r>
                      <a:endParaRPr/>
                    </a:p>
                  </a:txBody>
                  <a:tcPr marT="91425" marB="91425" marR="91425" marL="91425"/>
                </a:tc>
                <a:tc>
                  <a:txBody>
                    <a:bodyPr/>
                    <a:lstStyle/>
                    <a:p>
                      <a:pPr indent="0" lvl="0" marL="0" rtl="0" algn="l">
                        <a:spcBef>
                          <a:spcPts val="0"/>
                        </a:spcBef>
                        <a:spcAft>
                          <a:spcPts val="0"/>
                        </a:spcAft>
                        <a:buNone/>
                      </a:pPr>
                      <a:r>
                        <a:rPr lang="en"/>
                        <a:t>Other</a:t>
                      </a:r>
                      <a:endParaRPr/>
                    </a:p>
                  </a:txBody>
                  <a:tcPr marT="91425" marB="91425" marR="91425" marL="91425"/>
                </a:tc>
              </a:tr>
              <a:tr h="381000">
                <a:tc>
                  <a:txBody>
                    <a:bodyPr/>
                    <a:lstStyle/>
                    <a:p>
                      <a:pPr indent="0" lvl="0" marL="0" rtl="0" algn="l">
                        <a:spcBef>
                          <a:spcPts val="0"/>
                        </a:spcBef>
                        <a:spcAft>
                          <a:spcPts val="0"/>
                        </a:spcAft>
                        <a:buNone/>
                      </a:pPr>
                      <a:r>
                        <a:rPr lang="en"/>
                        <a:t>Hazelwood</a:t>
                      </a:r>
                      <a:endParaRPr/>
                    </a:p>
                  </a:txBody>
                  <a:tcPr marT="91425" marB="91425" marR="91425" marL="91425"/>
                </a:tc>
                <a:tc>
                  <a:txBody>
                    <a:bodyPr/>
                    <a:lstStyle/>
                    <a:p>
                      <a:pPr indent="0" lvl="0" marL="0" rtl="0" algn="l">
                        <a:spcBef>
                          <a:spcPts val="0"/>
                        </a:spcBef>
                        <a:spcAft>
                          <a:spcPts val="0"/>
                        </a:spcAft>
                        <a:buNone/>
                      </a:pPr>
                      <a:r>
                        <a:rPr lang="en"/>
                        <a:t>5</a:t>
                      </a:r>
                      <a:endParaRPr/>
                    </a:p>
                  </a:txBody>
                  <a:tcPr marT="91425" marB="91425" marR="91425" marL="91425"/>
                </a:tc>
                <a:tc>
                  <a:txBody>
                    <a:bodyPr/>
                    <a:lstStyle/>
                    <a:p>
                      <a:pPr indent="0" lvl="0" marL="0" rtl="0" algn="l">
                        <a:spcBef>
                          <a:spcPts val="0"/>
                        </a:spcBef>
                        <a:spcAft>
                          <a:spcPts val="0"/>
                        </a:spcAft>
                        <a:buNone/>
                      </a:pPr>
                      <a:r>
                        <a:rPr lang="en"/>
                        <a:t>13</a:t>
                      </a:r>
                      <a:endParaRPr/>
                    </a:p>
                  </a:txBody>
                  <a:tcPr marT="91425" marB="91425" marR="91425" marL="91425"/>
                </a:tc>
                <a:tc>
                  <a:txBody>
                    <a:bodyPr/>
                    <a:lstStyle/>
                    <a:p>
                      <a:pPr indent="0" lvl="0" marL="0" rtl="0" algn="l">
                        <a:spcBef>
                          <a:spcPts val="0"/>
                        </a:spcBef>
                        <a:spcAft>
                          <a:spcPts val="0"/>
                        </a:spcAft>
                        <a:buNone/>
                      </a:pPr>
                      <a:r>
                        <a:rPr lang="en"/>
                        <a:t>110</a:t>
                      </a:r>
                      <a:endParaRPr/>
                    </a:p>
                  </a:txBody>
                  <a:tcPr marT="91425" marB="91425" marR="91425" marL="91425"/>
                </a:tc>
              </a:tr>
              <a:tr h="381000">
                <a:tc>
                  <a:txBody>
                    <a:bodyPr/>
                    <a:lstStyle/>
                    <a:p>
                      <a:pPr indent="0" lvl="0" marL="0" rtl="0" algn="l">
                        <a:spcBef>
                          <a:spcPts val="0"/>
                        </a:spcBef>
                        <a:spcAft>
                          <a:spcPts val="0"/>
                        </a:spcAft>
                        <a:buNone/>
                      </a:pPr>
                      <a:r>
                        <a:rPr lang="en"/>
                        <a:t>South Side Slopes</a:t>
                      </a:r>
                      <a:endParaRPr/>
                    </a:p>
                  </a:txBody>
                  <a:tcPr marT="91425" marB="91425" marR="91425" marL="91425"/>
                </a:tc>
                <a:tc>
                  <a:txBody>
                    <a:bodyPr/>
                    <a:lstStyle/>
                    <a:p>
                      <a:pPr indent="0" lvl="0" marL="0" rtl="0" algn="l">
                        <a:spcBef>
                          <a:spcPts val="0"/>
                        </a:spcBef>
                        <a:spcAft>
                          <a:spcPts val="0"/>
                        </a:spcAft>
                        <a:buNone/>
                      </a:pPr>
                      <a:r>
                        <a:rPr lang="en"/>
                        <a:t>6</a:t>
                      </a:r>
                      <a:endParaRPr/>
                    </a:p>
                  </a:txBody>
                  <a:tcPr marT="91425" marB="91425" marR="91425" marL="91425"/>
                </a:tc>
                <a:tc>
                  <a:txBody>
                    <a:bodyPr/>
                    <a:lstStyle/>
                    <a:p>
                      <a:pPr indent="0" lvl="0" marL="0" rtl="0" algn="l">
                        <a:spcBef>
                          <a:spcPts val="0"/>
                        </a:spcBef>
                        <a:spcAft>
                          <a:spcPts val="0"/>
                        </a:spcAft>
                        <a:buNone/>
                      </a:pPr>
                      <a:r>
                        <a:rPr lang="en"/>
                        <a:t>14</a:t>
                      </a:r>
                      <a:endParaRPr/>
                    </a:p>
                  </a:txBody>
                  <a:tcPr marT="91425" marB="91425" marR="91425" marL="91425"/>
                </a:tc>
                <a:tc>
                  <a:txBody>
                    <a:bodyPr/>
                    <a:lstStyle/>
                    <a:p>
                      <a:pPr indent="0" lvl="0" marL="0" rtl="0" algn="l">
                        <a:spcBef>
                          <a:spcPts val="0"/>
                        </a:spcBef>
                        <a:spcAft>
                          <a:spcPts val="0"/>
                        </a:spcAft>
                        <a:buNone/>
                      </a:pPr>
                      <a:r>
                        <a:rPr lang="en"/>
                        <a:t>161</a:t>
                      </a:r>
                      <a:endParaRPr/>
                    </a:p>
                  </a:txBody>
                  <a:tcPr marT="91425" marB="91425" marR="91425" marL="91425"/>
                </a:tc>
              </a:tr>
              <a:tr h="381000">
                <a:tc>
                  <a:txBody>
                    <a:bodyPr/>
                    <a:lstStyle/>
                    <a:p>
                      <a:pPr indent="0" lvl="0" marL="0" rtl="0" algn="l">
                        <a:spcBef>
                          <a:spcPts val="0"/>
                        </a:spcBef>
                        <a:spcAft>
                          <a:spcPts val="0"/>
                        </a:spcAft>
                        <a:buNone/>
                      </a:pPr>
                      <a:r>
                        <a:rPr lang="en"/>
                        <a:t>Beechview</a:t>
                      </a:r>
                      <a:endParaRPr/>
                    </a:p>
                  </a:txBody>
                  <a:tcPr marT="91425" marB="91425" marR="91425" marL="91425"/>
                </a:tc>
                <a:tc>
                  <a:txBody>
                    <a:bodyPr/>
                    <a:lstStyle/>
                    <a:p>
                      <a:pPr indent="0" lvl="0" marL="0" rtl="0" algn="l">
                        <a:spcBef>
                          <a:spcPts val="0"/>
                        </a:spcBef>
                        <a:spcAft>
                          <a:spcPts val="0"/>
                        </a:spcAft>
                        <a:buNone/>
                      </a:pPr>
                      <a:r>
                        <a:rPr lang="en"/>
                        <a:t>6</a:t>
                      </a:r>
                      <a:endParaRPr/>
                    </a:p>
                  </a:txBody>
                  <a:tcPr marT="91425" marB="91425" marR="91425" marL="91425"/>
                </a:tc>
                <a:tc>
                  <a:txBody>
                    <a:bodyPr/>
                    <a:lstStyle/>
                    <a:p>
                      <a:pPr indent="0" lvl="0" marL="0" rtl="0" algn="l">
                        <a:spcBef>
                          <a:spcPts val="0"/>
                        </a:spcBef>
                        <a:spcAft>
                          <a:spcPts val="0"/>
                        </a:spcAft>
                        <a:buNone/>
                      </a:pPr>
                      <a:r>
                        <a:rPr lang="en"/>
                        <a:t>14</a:t>
                      </a:r>
                      <a:endParaRPr/>
                    </a:p>
                  </a:txBody>
                  <a:tcPr marT="91425" marB="91425" marR="91425" marL="91425"/>
                </a:tc>
                <a:tc>
                  <a:txBody>
                    <a:bodyPr/>
                    <a:lstStyle/>
                    <a:p>
                      <a:pPr indent="0" lvl="0" marL="0" rtl="0" algn="l">
                        <a:spcBef>
                          <a:spcPts val="0"/>
                        </a:spcBef>
                        <a:spcAft>
                          <a:spcPts val="0"/>
                        </a:spcAft>
                        <a:buNone/>
                      </a:pPr>
                      <a:r>
                        <a:rPr lang="en"/>
                        <a:t>149</a:t>
                      </a:r>
                      <a:endParaRPr/>
                    </a:p>
                  </a:txBody>
                  <a:tcPr marT="91425" marB="91425" marR="91425" marL="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22"/>
          <p:cNvSpPr txBox="1"/>
          <p:nvPr>
            <p:ph type="title"/>
          </p:nvPr>
        </p:nvSpPr>
        <p:spPr>
          <a:xfrm>
            <a:off x="1388550" y="873400"/>
            <a:ext cx="6366900" cy="1863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